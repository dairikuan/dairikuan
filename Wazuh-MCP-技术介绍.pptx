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0" Type="http://schemas.openxmlformats.org/officeDocument/2006/relationships/viewProps" Target="viewProps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'#FFFFFF', flexDirection: 'row', fontFamily: 'Microsoft YaHei' }}&gt;&#10;&#10;    {/* 左侧文字栏 44% */}&#10;    &lt;Box style={{ width: 520, height: 720, padding: '0 0 0 72', justifyContent: 'center', background: '#FFFFFF' }}&gt;&#10;        &lt;Box style={{ flexDirection: 'row', alignItems: 'center', gap: 10, marginBottom: 26 }}&gt;&#10;            &lt;Box style={{ width: 26, height: 3, background: '#2563EB' }} /&gt;&#10;            &lt;Text style={{ fontSize: 13, color: '#06B6D4', fontFamily: 'Consolas', letterSpacing: 2.5 }}&gt;WAZUH · MCP · SOC&lt;/Text&gt;&#10;        &lt;/Box&gt;&#10;&#10;        &lt;Text style={{ fontSize: 76, fontWeight: 'bold', color: '#0F172A', lineHeight: 1.1, letterSpacing: -1 }}&gt;Wazuh MCP&lt;/Text&gt;&#10;        &lt;Text style={{ fontSize: 34, fontWeight: 'bold', color: '#2563EB', lineHeight: 1.35, marginTop: 8 }}&gt;把 SIEM 接进对话&lt;/Text&gt;&#10;&#10;        &lt;Box style={{ width: 64, height: 2, background: '#0F172A', marginTop: 30, marginBottom: 26 }} /&gt;&#10;&#10;        &lt;Text style={{ fontSize: 17, color: '#64748B', lineHeight: 1.85 }}&gt;&#10;            一端是 Open WebUI，一端是 Wazuh Manager 与 Indexer&#10;            &lt;br /&gt;&#10;            模型跑在公司自建 LLM 上，全链路不出内网&#10;        &lt;/Text&gt;&#10;&#10;        &lt;Box style={{ flexDirection: 'row', alignItems: 'center', gap: 14, marginTop: 56 }}&gt;&#10;            &lt;Text style={{ fontSize: 13, color: '#94A3B8' }}&gt;技术评审&lt;/Text&gt;&#10;            &lt;Box style={{ width: 1, height: 12, background: '#CBD5E1' }} /&gt;&#10;            &lt;Text style={{ fontSize: 13, color: '#94A3B8' }}&gt;2026.10&lt;/Text&gt;&#10;            &lt;Box style={{ width: 1, height: 12, background: '#CBD5E1' }} /&gt;&#10;            &lt;Text style={{ fontSize: 13, color: '#94A3B8' }}&gt;安全平台组&lt;/Text&gt;&#10;        &lt;/Box&gt;&#10;    &lt;/Box&gt;&#10;&#10;    {/* 右侧拓扑主视觉 */}&#10;    &lt;Box style={{ width: 760, height: 720, background: '#EFF4FB', position: 'relative' }}&gt;&#10;        &lt;svg width={760} height={720} viewBox='0 0 760 720' style={{ position: 'absolute', top: 0, left: 0 }}&gt;&#10;            &lt;line x1='340' y1='226' x2='340' y2='300' stroke='#2563EB' strokeWidth='1.6' opacity='0.55' /&gt;&#10;            &lt;line x1='340' y1='406' x2='340' y2='452' stroke='#2563EB' strokeWidth='1.6' opacity='0.55' /&gt;&#10;            &lt;line x1='200' y1='452' x2='510' y2='452' stroke='#2563EB' strokeWidth='1.6' opacity='0.55' /&gt;&#10;            &lt;line x1='200' y1='452' x2='200' y2='474' stroke='#2563EB' strokeWidth='1.6' opacity='0.55' /&gt;&#10;            &lt;line x1='510' y1='452' x2='510' y2='474' stroke='#2563EB' strokeWidth='1.6' opacity='0.55' /&gt;&#10;            &lt;circle cx='340' cy='226' r='4' fill='#2563EB' /&gt;&#10;            &lt;circle cx='340' cy='300' r='4' fill='#2563EB' /&gt;&#10;            &lt;circle cx='340' cy='406' r='4' fill='#06B6D4' /&gt;&#10;            &lt;circle cx='200' cy='474' r='4' fill='#06B6D4' /&gt;&#10;            &lt;circle cx='510' cy='474' r='4' fill='#06B6D4' /&gt;&#10;        &lt;/svg&gt;&#10;&#10;        &lt;Box style={{ position: 'absolute', top: 120, left: 130, width: 420, height: 106, background: '#FFFFFF', border: '1px solid #C7D7F2', borderRadius: 10, padding: '20px 24px', justifyContent: 'center' }}&gt;&#10;            &lt;Text style={{ fontSize: 25, fontWeight: 'bold', color: '#0F172A' }}&gt;Open WebUI&lt;/Text&gt;&#10;            &lt;Text style={{ fontSize: 13, color: '#64748B', fontFamily: 'Consolas', marginTop: 8 }}&gt;自建 LLM · vLLM / OpenAI 兼容&lt;/Text&gt;&#10;        &lt;/Box&gt;&#10;&#10;        &lt;Box style={{ position: 'absolute', top: 300, left: 130, width: 420, height: 106, background: '#0F172A', borderRadius: 10, padding: '20px 24px', justifyContent: 'center' }}&gt;&#10;            &lt;Text style={{ fontSize: 25, fontWeight: 'bold', color: '#FFFFFF' }}&gt;Wazuh MCP Server&lt;/Text&gt;&#10;            &lt;Text style={{ fontSize: 13, color: '#8FB4F0', fontFamily: 'Consolas', marginTop: 8 }}&gt;/mcp · 鉴权 · 审计 · 限流&lt;/Text&gt;&#10;        &lt;/Box&gt;&#10;&#10;        &lt;Box style={{ position: 'absolute', top: 474, left: 100, width: 200, height: 110, background: '#FFFFFF', border: '1px solid #C7D7F2', borderRadius: 10, padding: '18px 20px', justifyContent: 'center' }}&gt;&#10;            &lt;Text style={{ fontSize: 20, fontWeight: 'bold', color: '#0F172A' }}&gt;Manager&lt;/Text&gt;&#10;            &lt;Text style={{ fontSize: 12, color: '#64748B', fontFamily: 'Consolas', marginTop: 7 }}&gt;API 55000&lt;/Text&gt;&#10;            &lt;Text style={{ fontSize: 12, color: '#94A3B8', marginTop: 4 }}&gt;状态与动作&lt;/Text&gt;&#10;        &lt;/Box&gt;&#10;&#10;        &lt;Box style={{ position: 'absolute', top: 474, left: 410, width: 200, height: 110, background: '#FFFFFF', border: '1px solid #C7D7F2', borderRadius: 10, padding: '18px 20px', justifyContent: 'center' }}&gt;&#10;            &lt;Text style={{ fontSize: 20, fontWeight: 'bold', color: '#0F172A' }}&gt;Indexer&lt;/Text&gt;&#10;            &lt;Text style={{ fontSize: 12, color: '#64748B', fontFamily: 'Consolas', marginTop: 7 }}&gt;9200 · OpenSearch&lt;/Text&gt;&#10;            &lt;Text style={{ fontSize: 12, color: '#94A3B8', marginTop: 4 }}&gt;告警与漏洞&lt;/Text&gt;&#10;        &lt;/Box&gt;&#10;&#10;        &lt;Box style={{ position: 'absolute', top: 620, left: 100, flexDirection: 'row', alignItems: 'center', gap: 8 }}&gt;&#10;            &lt;Box style={{ width: 8, height: 8, borderRadius: 4, background: '#06B6D4' }} /&gt;&#10;            &lt;Text style={{ fontSize: 13, color: '#475569' }}&gt;全部组件内网部署 · 默认无对外调用&lt;/Text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85800" y="876300"/>
            <a:ext cx="24765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028700" y="809625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88">
                <a:solidFill>
                  <a:srgbClr val="06B6D4"/>
                </a:solidFill>
                <a:latin typeface="Consolas"/>
                <a:ea typeface="Consolas"/>
              </a:rPr>
              <a:t>WAZUH · MCP · SOC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4267200" cy="1914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0000"/>
              </a:lnSpc>
            </a:pPr>
            <a:r>
              <a:rPr lang="en-US" sz="5700" b="1" spc="-75">
                <a:solidFill>
                  <a:srgbClr val="0F172A"/>
                </a:solidFill>
                <a:latin typeface="Microsoft YaHei"/>
                <a:ea typeface="Microsoft YaHei"/>
              </a:rPr>
              <a:t>Wazuh MCP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3200400"/>
            <a:ext cx="4267200" cy="5334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2563EB"/>
                </a:solidFill>
                <a:latin typeface="Microsoft YaHei"/>
                <a:ea typeface="Microsoft YaHei"/>
              </a:rPr>
              <a:t>把</a:t>
            </a:r>
            <a:r>
              <a:rPr lang="en-US" sz="25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SIEM </a:t>
            </a:r>
            <a:r>
              <a:rPr lang="zh-CN" sz="2550" b="1">
                <a:solidFill>
                  <a:srgbClr val="2563EB"/>
                </a:solidFill>
                <a:latin typeface="Microsoft YaHei"/>
                <a:ea typeface="Microsoft YaHei"/>
              </a:rPr>
              <a:t>接进对话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4019550"/>
            <a:ext cx="60960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42672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一端是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Open WebUI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，一端是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 Manager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Indexer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模型跑在公司自建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上，全链路不出内网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5905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技术评审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314450" y="5924550"/>
            <a:ext cx="9525" cy="1143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457325" y="5905500"/>
            <a:ext cx="46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57400" y="5924550"/>
            <a:ext cx="9525" cy="1143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59055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安全平台组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953000" y="0"/>
            <a:ext cx="7239000" cy="6858000"/>
          </a:xfrm>
          <a:prstGeom prst="rect">
            <a:avLst/>
          </a:prstGeom>
          <a:solidFill>
            <a:srgbClr val="EFF4FB"/>
          </a:solidFill>
          <a:ln/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53000" y="0"/>
            <a:ext cx="7239000" cy="685800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191250" y="1143000"/>
            <a:ext cx="40005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19850" y="1390650"/>
            <a:ext cx="3543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F172A"/>
                </a:solidFill>
                <a:latin typeface="Microsoft YaHei"/>
                <a:ea typeface="Microsoft YaHei"/>
              </a:rPr>
              <a:t>Open WebUI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19850" y="17526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Consolas"/>
                <a:ea typeface="Consolas"/>
              </a:rPr>
              <a:t>自建</a:t>
            </a:r>
            <a:r>
              <a:rPr lang="en-US" sz="975">
                <a:solidFill>
                  <a:srgbClr val="64748B"/>
                </a:solidFill>
                <a:latin typeface="Consolas"/>
                <a:ea typeface="Consolas"/>
              </a:rPr>
              <a:t xml:space="preserve"> LLM · vLLM / OpenAI </a:t>
            </a:r>
            <a:r>
              <a:rPr lang="zh-CN" sz="975">
                <a:solidFill>
                  <a:srgbClr val="64748B"/>
                </a:solidFill>
                <a:latin typeface="Consolas"/>
                <a:ea typeface="Consolas"/>
              </a:rPr>
              <a:t>兼容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191250" y="2857500"/>
            <a:ext cx="4000500" cy="1009650"/>
          </a:xfrm>
          <a:prstGeom prst="roundRect">
            <a:avLst>
              <a:gd name="adj" fmla="val 9434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19850" y="3105150"/>
            <a:ext cx="3543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Wazuh MCP Server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19850" y="34671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F0"/>
                </a:solidFill>
                <a:latin typeface="Consolas"/>
                <a:ea typeface="Consolas"/>
              </a:rPr>
              <a:t xml:space="preserve">/mcp · </a:t>
            </a:r>
            <a:r>
              <a:rPr lang="zh-CN" sz="975">
                <a:solidFill>
                  <a:srgbClr val="8FB4F0"/>
                </a:solidFill>
                <a:latin typeface="Consolas"/>
                <a:ea typeface="Consolas"/>
              </a:rPr>
              <a:t>鉴权</a:t>
            </a:r>
            <a:r>
              <a:rPr lang="en-US" sz="975">
                <a:solidFill>
                  <a:srgbClr val="8FB4F0"/>
                </a:solidFill>
                <a:latin typeface="Consolas"/>
                <a:ea typeface="Consolas"/>
              </a:rPr>
              <a:t xml:space="preserve"> · </a:t>
            </a:r>
            <a:r>
              <a:rPr lang="zh-CN" sz="975">
                <a:solidFill>
                  <a:srgbClr val="8FB4F0"/>
                </a:solidFill>
                <a:latin typeface="Consolas"/>
                <a:ea typeface="Consolas"/>
              </a:rPr>
              <a:t>审计</a:t>
            </a:r>
            <a:r>
              <a:rPr lang="en-US" sz="975">
                <a:solidFill>
                  <a:srgbClr val="8FB4F0"/>
                </a:solidFill>
                <a:latin typeface="Consolas"/>
                <a:ea typeface="Consolas"/>
              </a:rPr>
              <a:t xml:space="preserve"> · </a:t>
            </a:r>
            <a:r>
              <a:rPr lang="zh-CN" sz="975">
                <a:solidFill>
                  <a:srgbClr val="8FB4F0"/>
                </a:solidFill>
                <a:latin typeface="Consolas"/>
                <a:ea typeface="Consolas"/>
              </a:rPr>
              <a:t>限流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905500" y="4514850"/>
            <a:ext cx="190500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0" y="47339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Manager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0" y="502920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API 55000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0" y="52101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状态与动作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858250" y="4514850"/>
            <a:ext cx="190500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48750" y="47339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Indexer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048750" y="502920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9200 · OpenSearch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048750" y="52101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告警与漏洞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9055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57900" y="59055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全部组件内网部署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默认无对外调用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" name="" descr="&lt;Slide style={{ width: 1280, height: 720, background: '#FFFFFF', fontFamily: 'Microsoft YaHei', padding: '0 72' }}&gt;&#10;&#10;    {/* A 区 标题块 */}&#10;    &lt;Box style={{ height: 120, justifyContent: 'center' }}&gt;&#10;        &lt;Text style={{ fontSize: 36, fontWeight: 'bold', color: '#0F172A', lineHeight: 1.3 }}&gt;断点不在工具，在&quot;人&quot;与&quot;语言&quot;&lt;/Text&gt;&#10;        &lt;Text style={{ fontSize: 19, color: '#64748B', lineHeight: 1.6, marginTop: 8 }}&gt;从&quot;有数据&quot;到&quot;有结论&quot;，中间有三处断点，MCP 要修的是这条链路&lt;/Text&gt;&#10;    &lt;/Box&gt;&#10;&#10;    {/* B 区 非对称双栏 660 : 436 */}&#10;    &lt;Box style={{ flexDirection: 'row', gap: 40, height: 540 }}&gt;&#10;&#10;        {/* 左栏 三处断点 */}&#10;        &lt;Box style={{ width: 660, justifyContent: 'space-between' }}&gt;&#10;&#10;            &lt;Box style={{ flexDirection: 'row', gap: 18 }}&gt;&#10;                &lt;Text style={{ fontSize: 13, color: '#2563EB', fontFamily: 'Consolas', width: 26, lineHeight: 1.9 }}&gt;01&lt;/Text&gt;&#10;                &lt;Box style={{ width: 616 }}&gt;&#10;                    &lt;Text style={{ fontSize: 21, fontWeight: 'bold', color: '#0F172A', lineHeight: 1.35 }}&gt;信息割裂&lt;/Text&gt;&#10;                    &lt;Text style={{ fontSize: 16, color: '#64748B', lineHeight: 1.75, marginTop: 8 }}&gt;&#10;                        告警与漏洞在 Indexer，主机状态、配置、进程在 Manager。值班要在两个界面之间来回切，关联分析全靠人脑记住上下文。&#10;                    &lt;/Text&gt;&#10;                &lt;/Box&gt;&#10;            &lt;/Box&gt;&#10;&#10;            &lt;Box style={{ height: 1, background: '#E2E8F0' }} /&gt;&#10;&#10;            &lt;Box style={{ flexDirection: 'row', gap: 18 }}&gt;&#10;                &lt;Text style={{ fontSize: 13, color: '#2563EB', fontFamily: 'Consolas', width: 26, lineHeight: 1.9 }}&gt;02&lt;/Text&gt;&#10;                &lt;Box style={{ width: 616 }}&gt;&#10;                    &lt;Text style={{ fontSize: 21, fontWeight: 'bold', color: '#0F172A', lineHeight: 1.35 }}&gt;语言不通&lt;/Text&gt;&#10;                    &lt;Text style={{ fontSize: 16, color: '#64748B', lineHeight: 1.75, marginTop: 8 }}&gt;&#10;                        要查&quot;有没有横向移动&quot;，得写 DSL、点五层筛选。会写查询的人和需要拿结论的人，往往不是同一批人。&#10;                    &lt;/Text&gt;&#10;                &lt;/Box&gt;&#10;            &lt;/Box&gt;&#10;&#10;            &lt;Box style={{ height: 1, background: '#E2E8F0' }} /&gt;&#10;&#10;            &lt;Box style={{ flexDirection: 'row', gap: 18 }}&gt;&#10;                &lt;Text style={{ fontSize: 13, color: '#2563EB', fontFamily: 'Consolas', width: 26, lineHeight: 1.9 }}&gt;03&lt;/Text&gt;&#10;                &lt;Box style={{ width: 616 }}&gt;&#10;                    &lt;Text style={{ fontSize: 21, fontWeight: 'bold', color: '#0F172A', lineHeight: 1.35 }}&gt;留痕靠人&lt;/Text&gt;&#10;                    &lt;Text style={{ fontSize: 16, color: '#64748B', lineHeight: 1.75, marginTop: 8 }}&gt;&#10;                        处置动作发生在看板之外——谁封了 IP、依据是什么，最后只留在群里的一句话里，事后无法复盘，也进不了审计。&#10;                    &lt;/Text&gt;&#10;                &lt;/Box&gt;&#10;            &lt;/Box&gt;&#10;&#10;            &lt;Box style={{ background: '#EFF4FB', borderRadius: 8, padding: '18px 22px', borderLeft: '3px solid #2563EB' }}&gt;&#10;                &lt;Text style={{ fontSize: 17, color: '#0F172A', lineHeight: 1.6 }}&gt;&#10;                    所以我们缺的不是数据，是&lt;span style={{ fontWeight: 'bold' }}&gt;一条可审计的调用链&lt;/span&gt;：谁问的、查了什么、依据哪条数据、做了什么。&#10;                &lt;/Text&gt;&#10;            &lt;/Box&gt;&#10;&#10;        &lt;/Box&gt;&#10;&#10;        {/* 右栏 断裂链路图 */}&#10;        &lt;Box style={{ width: 436, height: 540, background: '#EFF4FB', borderRadius: 12, position: 'relative' }}&gt;&#10;            &lt;svg width={436} height={540} viewBox='0 0 436 540' style={{ position: 'absolute', top: 0, left: 0 }}&gt;&#10;                &lt;line x1='218' y1='102' x2='218' y2='142' stroke='#94A3B8' strokeWidth='1.5' /&gt;&#10;                &lt;line x1='218' y1='204' x2='218' y2='232' stroke='#94A3B8' strokeWidth='1.5' strokeDasharray='5 5' /&gt;&#10;                &lt;line x1='218' y1='262' x2='218' y2='286' stroke='#94A3B8' strokeWidth='1.5' strokeDasharray='5 5' /&gt;&#10;                &lt;line x1='218' y1='348' x2='218' y2='388' stroke='#94A3B8' strokeWidth='1.5' /&gt;&#10;                &lt;line x1='207' y1='236' x2='229' y2='258' stroke='#0F172A' strokeWidth='2.4' /&gt;&#10;                &lt;line x1='229' y1='236' x2='207' y2='258' stroke='#0F172A' strokeWidth='2.4' /&gt;&#10;            &lt;/svg&gt;&#10;&#10;            &lt;Box style={{ position: 'absolute', top: 40, left: 68, width: 300, height: 62, background: '#FFFFFF', border: '1px solid #C7D7F2', borderRadius: 8, padding: '0 18px', justifyContent: 'center' }}&gt;&#10;                &lt;Text style={{ fontSize: 16, color: '#0F172A' }}&gt;告警产生（Indexer）&lt;/Text&gt;&#10;            &lt;/Box&gt;&#10;&#10;            &lt;Box style={{ position: 'absolute', top: 142, left: 68, width: 300, height: 62, background: '#FFFFFF', border: '1px solid #C7D7F2', borderRadius: 8, padding: '0 18px', justifyContent: 'center' }}&gt;&#10;                &lt;Text style={{ fontSize: 16, color: '#0F172A' }}&gt;人工筛一遍（经验判断）&lt;/Text&gt;&#10;            &lt;/Box&gt;&#10;&#10;            &lt;Box style={{ position: 'absolute', top: 232, left: 246, width: 130 }}&gt;&#10;                &lt;Text style={{ fontSize: 13, color: '#0F172A', fontFamily: 'Consolas' }}&gt;断点在这里&lt;/Text&gt;&#10;                &lt;Text style={{ fontSize: 12, color: '#94A3B8', marginTop: 2 }}&gt;no trace&lt;/Text&gt;&#10;            &lt;/Box&gt;&#10;&#10;            &lt;Box style={{ position: 'absolute', top: 286, left: 68, width: 300, height: 62, background: '#FFFFFF', border: '1px solid #C7D7F2', borderRadius: 8, padding: '0 18px', justifyContent: 'center' }}&gt;&#10;                &lt;Text style={{ fontSize: 16, color: '#0F172A' }}&gt;切 4 个界面找证据（Manager）&lt;/Text&gt;&#10;            &lt;/Box&gt;&#10;&#10;            &lt;Box style={{ position: 'absolute', top: 388, left: 68, width: 300, height: 62, background: '#FFFFFF', border: '1px dashed #94A3B8', borderRadius: 8, padding: '0 18px', justifyContent: 'center' }}&gt;&#10;                &lt;Text style={{ fontSize: 16, color: '#64748B' }}&gt;处置 + 群里一句话&lt;/Text&gt;&#10;            &lt;/Box&gt;&#10;&#10;            &lt;Box style={{ position: 'absolute', top: 478, left: 68, width: 300 }}&gt;&#10;                &lt;Text style={{ fontSize: 13, color: '#64748B', lineHeight: 1.6 }}&gt;人工链路上，第 3 环没有结构化记录——这正是 MCP 要接上的位置。&lt;/Text&gt;&#10;            &lt;/Box&gt;&#10;        &lt;/Box&gt;&#10;&#10;    &lt;/Box&gt;&#10;&#10;    {/* C 区 页脚 */}&#10;    &lt;Box style={{ height: 60, flexDirection: 'row', alignItems: 'center', justifyContent: 'space-between' }}&gt;&#10;        &lt;Text style={{ fontSize: 13, color: '#94A3B8' }}&gt;Wazuh MCP · 内部技术评审&lt;/Text&gt;&#10;        &lt;Text style={{ fontSize: 13, color: '#94A3B8', fontFamily: 'Consolas' }}&gt;02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断点不在工具，在</a:t>
            </a: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人</a:t>
            </a: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语言</a:t>
            </a: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从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有数据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到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有结论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，中间有三处断点，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要修的是这条链路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2563E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4900" y="1143000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信息割裂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04900" y="1552575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告警与漏洞在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Indexer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，主机状态、配置、进程在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Manager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。值班要在两个界面之间来回切，关联分析全靠人脑记住上下文。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5800" y="2400300"/>
            <a:ext cx="6286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2600325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2563E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4900" y="2600325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语言不通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04900" y="3009900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要查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有没有横向移动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，得写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DSL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、点五层筛选。会写查询的人和需要拿结论的人，往往不是同一批人。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3857625"/>
            <a:ext cx="6286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5800" y="4057650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2563E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4900" y="4057650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留痕靠人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04900" y="4467225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处置动作发生在看板之外——谁封了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IP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、依据是什么，最后只留在群里的一句话里，事后无法复盘，也进不了审计。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14375" y="5314950"/>
            <a:ext cx="6286500" cy="971550"/>
          </a:xfrm>
          <a:prstGeom prst="roundRect">
            <a:avLst>
              <a:gd name="adj" fmla="val 7843"/>
            </a:avLst>
          </a:prstGeom>
          <a:solidFill>
            <a:srgbClr val="EFF4FB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14375" y="5314950"/>
            <a:ext cx="6286500" cy="971550"/>
          </a:xfrm>
          <a:custGeom>
            <a:pathLst>
              <a:path w="660" h="10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7"/>
                </a:lnTo>
                <a:cubicBezTo>
                  <a:pt x="3" y="99"/>
                  <a:pt x="5" y="101"/>
                  <a:pt x="7" y="102"/>
                </a:cubicBezTo>
                <a:cubicBezTo>
                  <a:pt x="3" y="101"/>
                  <a:pt x="0" y="98"/>
                  <a:pt x="0" y="9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23925" y="5486400"/>
            <a:ext cx="5838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所以我们缺的不是数据，是</a:t>
            </a: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一条可审计的调用链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：谁问的、查了什么、依据哪条数据、做了什么。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>02 / 06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353300" y="1143000"/>
            <a:ext cx="4152900" cy="5143500"/>
          </a:xfrm>
          <a:prstGeom prst="roundRect">
            <a:avLst>
              <a:gd name="adj" fmla="val 2752"/>
            </a:avLst>
          </a:prstGeom>
          <a:solidFill>
            <a:srgbClr val="EFF4FB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53300" y="1143000"/>
            <a:ext cx="4152900" cy="514350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8001000" y="15240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72450" y="17240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告警产生（</a:t>
            </a:r>
            <a:r>
              <a:rPr lang="en-US" sz="1200">
                <a:solidFill>
                  <a:srgbClr val="0F172A"/>
                </a:solidFill>
                <a:latin typeface="Microsoft YaHei"/>
                <a:ea typeface="Microsoft YaHei"/>
              </a:rPr>
              <a:t>Indexer</a:t>
            </a: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8001000" y="24955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172450" y="269557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人工筛一遍（经验判断）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696450" y="33528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Consolas"/>
                <a:ea typeface="Consolas"/>
              </a:rPr>
              <a:t>断点在这里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696450" y="352425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no trace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8001000" y="38671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72450" y="406717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切</a:t>
            </a:r>
            <a:r>
              <a:rPr lang="en-US" sz="1200">
                <a:solidFill>
                  <a:srgbClr val="0F172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个界面找证据（</a:t>
            </a:r>
            <a:r>
              <a:rPr lang="en-US" sz="1200">
                <a:solidFill>
                  <a:srgbClr val="0F172A"/>
                </a:solidFill>
                <a:latin typeface="Microsoft YaHei"/>
                <a:ea typeface="Microsoft YaHei"/>
              </a:rPr>
              <a:t>Manager</a:t>
            </a: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01000" y="48387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172450" y="50387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处置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群里一句话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001000" y="5695950"/>
            <a:ext cx="2857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人工链路上，第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环没有结构化记录——这正是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要接上的位置。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6" name="" descr="&lt;Slide style={{ width: 1280, height: 720, background: '#FFFFFF', fontFamily: 'Microsoft YaHei', padding: '0 72' }}&gt;&#10;&#10;    {/* A 区 */}&#10;    &lt;Box style={{ height: 120, justifyContent: 'center' }}&gt;&#10;        &lt;Text style={{ fontSize: 36, fontWeight: 'bold', color: '#0F172A', lineHeight: 1.3 }}&gt;三段式架构：一端对话，一端数据&lt;/Text&gt;&#10;        &lt;Text style={{ fontSize: 19, color: '#64748B', lineHeight: 1.6, marginTop: 8 }}&gt;三段解耦，任何一段都能单独替换——换模型、换前端、换 Wazuh 版本，都不牵动另外两段&lt;/Text&gt;&#10;    &lt;/Box&gt;&#10;&#10;    {/* 上：架构图 */}&#10;    &lt;Box style={{ width: 1136, height: 310, position: 'relative' }}&gt;&#10;        &lt;svg width={1136} height={310} viewBox='0 0 1136 310' style={{ position: 'absolute', top: 0, left: 0 }}&gt;&#10;            &lt;line x1='150' y1='112' x2='150' y2='178' stroke='#94A3B8' strokeWidth='1.4' strokeDasharray='4 4' /&gt;&#10;            &lt;line x1='302' y1='150' x2='404' y2='150' stroke='#2563EB' strokeWidth='2' /&gt;&#10;            &lt;path d='M404 150 L392 144 L392 156 Z' fill='#2563EB' /&gt;&#10;            &lt;line x1='720' y1='150' x2='822' y2='150' stroke='#2563EB' strokeWidth='2' /&gt;&#10;            &lt;path d='M822 150 L810 144 L810 156 Z' fill='#2563EB' /&gt;&#10;            &lt;circle cx='302' cy='150' r='0' fill='#2563EB' /&gt;&#10;        &lt;/svg&gt;&#10;&#10;        &lt;Box style={{ position: 'absolute', top: 20, left: 0, width: 300, height: 92, background: '#FFFFFF', border: '1px solid #C7D7F2', borderRadius: 10, padding: '16px 20px', justifyContent: 'center' }}&gt;&#10;            &lt;Text style={{ fontSize: 22, fontWeight: 'bold', color: '#0F172A' }}&gt;Open WebUI&lt;/Text&gt;&#10;            &lt;Text style={{ fontSize: 12, color: '#64748B', fontFamily: 'Consolas', marginTop: 6 }}&gt;对话界面 · 工具开关 · RBAC&lt;/Text&gt;&#10;        &lt;/Box&gt;&#10;&#10;        &lt;Box style={{ position: 'absolute', top: 178, left: 0, width: 300, height: 92, background: '#FFFFFF', border: '1px solid #C7D7F2', borderRadius: 10, padding: '16px 20px', justifyContent: 'center' }}&gt;&#10;            &lt;Text style={{ fontSize: 22, fontWeight: 'bold', color: '#0F172A' }}&gt;自建 LLM&lt;/Text&gt;&#10;            &lt;Text style={{ fontSize: 12, color: '#64748B', fontFamily: 'Consolas', marginTop: 6 }}&gt;vLLM · OpenAI 兼容 · 支持调用&lt;/Text&gt;&#10;        &lt;/Box&gt;&#10;&#10;        &lt;Box style={{ position: 'absolute', top: 20, left: 404, width: 316, height: 250, background: '#0F172A', borderRadius: 10, padding: '18px 20px' }}&gt;&#10;            &lt;Text style={{ fontSize: 22, fontWeight: 'bold', color: '#FFFFFF' }}&gt;Wazuh MCP Server&lt;/Text&gt;&#10;            &lt;Text style={{ fontSize: 12, color: '#8FB4F0', fontFamily: 'Consolas', marginTop: 4 }}&gt;55 tools · 8 toolsets&lt;/Text&gt;&#10;            &lt;Box style={{ gap: 7, marginTop: 14 }}&gt;&#10;                &lt;Box style={{ background: 'rgba(255,255,255,0.10)', borderRadius: 6, padding: '7px 10px' }}&gt;&#10;                    &lt;Text style={{ fontSize: 12, color: '#C9DBF7', fontFamily: 'Consolas' }}&gt;/mcp · Streamable HTTP&lt;/Text&gt;&#10;                &lt;/Box&gt;&#10;                &lt;Box style={{ background: 'rgba(255,255,255,0.10)', borderRadius: 6, padding: '7px 10px' }}&gt;&#10;                    &lt;Text style={{ fontSize: 12, color: '#C9DBF7', fontFamily: 'Consolas' }}&gt;鉴权 bearer → scope&lt;/Text&gt;&#10;                &lt;/Box&gt;&#10;                &lt;Box style={{ background: 'rgba(255,255,255,0.10)', borderRadius: 6, padding: '7px 10px' }}&gt;&#10;                    &lt;Text style={{ fontSize: 12, color: '#C9DBF7', fontFamily: 'Consolas' }}&gt;审计 · 限流 · 入参校验&lt;/Text&gt;&#10;                &lt;/Box&gt;&#10;            &lt;/Box&gt;&#10;        &lt;/Box&gt;&#10;&#10;        &lt;Box style={{ position: 'absolute', top: 20, left: 822, width: 314, height: 92, background: '#FFFFFF', border: '1px solid #C7D7F2', borderRadius: 10, padding: '16px 20px', justifyContent: 'center' }}&gt;&#10;            &lt;Text style={{ fontSize: 22, fontWeight: 'bold', color: '#0F172A' }}&gt;Wazuh Manager&lt;/Text&gt;&#10;            &lt;Text style={{ fontSize: 12, color: '#64748B', fontFamily: 'Consolas', marginTop: 6 }}&gt;API 55000 · 主机/规则/响应&lt;/Text&gt;&#10;        &lt;/Box&gt;&#10;&#10;        &lt;Box style={{ position: 'absolute', top: 178, left: 822, width: 314, height: 92, background: '#FFFFFF', border: '1px solid #C7D7F2', borderRadius: 10, padding: '16px 20px', justifyContent: 'center' }}&gt;&#10;            &lt;Text style={{ fontSize: 22, fontWeight: 'bold', color: '#0F172A' }}&gt;Wazuh Indexer&lt;/Text&gt;&#10;            &lt;Text style={{ fontSize: 12, color: '#64748B', fontFamily: 'Consolas', marginTop: 6 }}&gt;9200 · 告警/漏洞/合规&lt;/Text&gt;&#10;        &lt;/Box&gt;&#10;&#10;        &lt;Box style={{ position: 'absolute', top: 112, left: 312, width: 86 }}&gt;&#10;            &lt;Text style={{ fontSize: 12, color: '#2563EB', fontFamily: 'Consolas' }}&gt;tools/call&lt;/Text&gt;&#10;        &lt;/Box&gt;&#10;        &lt;Box style={{ position: 'absolute', top: 112, left: 730, width: 86 }}&gt;&#10;            &lt;Text style={{ fontSize: 12, color: '#2563EB', fontFamily: 'Consolas' }}&gt;REST&lt;/Text&gt;&#10;        &lt;/Box&gt;&#10;        &lt;Box style={{ position: 'absolute', top: 268, left: 404, width: 316 }}&gt;&#10;            &lt;Text style={{ fontSize: 12, color: '#94A3B8', fontFamily: 'Consolas', textAlign: 'center' }}&gt;Docker 部署 · 3000 端口 · 仅内网可达&lt;/Text&gt;&#10;        &lt;/Box&gt;&#10;    &lt;/Box&gt;&#10;&#10;    {/* 下：注解带 */}&#10;    &lt;Box style={{ width: 1136, height: 180, background: '#EFF4FB', borderRadius: 10, padding: '20px 24px', flexDirection: 'row', gap: 22, marginTop: 20 }}&gt;&#10;        &lt;Box style={{ width: 350 }}&gt;&#10;            &lt;Text style={{ fontSize: 12, color: '#2563EB', fontFamily: 'Consolas', letterSpacing: 1 }}&gt;LAYER 01 · 接口&lt;/Text&gt;&#10;            &lt;Text style={{ fontSize: 15, color: '#334155', lineHeight: 1.7, marginTop: 7 }}&gt;&#10;                模型只负责&quot;选工具、读结果&quot;，不直接碰数据库。工具名、参数、返回都是结构化 JSON。&#10;            &lt;/Text&gt;&#10;        &lt;/Box&gt;&#10;        &lt;Box style={{ width: 1, background: '#CBD5E1' }} /&gt;&#10;        &lt;Box style={{ width: 330 }}&gt;&#10;            &lt;Text style={{ fontSize: 12, color: '#2563EB', fontFamily: 'Consolas', letterSpacing: 1 }}&gt;LAYER 02 · 权限&lt;/Text&gt;&#10;            &lt;Text style={{ fontSize: 15, color: '#334155', lineHeight: 1.7, marginTop: 7 }}&gt;&#10;                只读工具默认可用；14 个变更类工具要显式开 scope，每次调用落审计。&#10;            &lt;/Text&gt;&#10;        &lt;/Box&gt;&#10;        &lt;Box style={{ width: 1, background: '#CBD5E1' }} /&gt;&#10;        &lt;Box style={{ width: 380 }}&gt;&#10;            &lt;Text style={{ fontSize: 12, color: '#2563EB', fontFamily: 'Consolas', letterSpacing: 1 }}&gt;LAYER 03 · 数据&lt;/Text&gt;&#10;            &lt;Text style={{ fontSize: 15, color: '#334155', lineHeight: 1.7, marginTop: 7 }}&gt;&#10;                Manager 回答&quot;能做什么&quot;，Indexer 回答&quot;看到了什么&quot;。&lt;span style={{ fontWeight: 'bold', color: '#0F172A' }}&gt;缺一半，结论就会偏。&lt;/span&gt;&#10;            &lt;/Text&gt;&#10;        &lt;/Box&gt;&#10;    &lt;/Box&gt;&#10;&#10;    {/* C 区 */}&#10;    &lt;Box style={{ height: 60, flexDirection: 'row', alignItems: 'center', justifyContent: 'space-between' }}&gt;&#10;        &lt;Text style={{ fontSize: 13, color: '#94A3B8' }}&gt;Wazuh MCP · 内部技术评审&lt;/Text&gt;&#10;        &lt;Text style={{ fontSize: 13, color: '#94A3B8', fontFamily: 'Consolas' }}&gt;03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三段式架构：一端对话，一端数据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三段解耦，任何一段都能单独替换——换模型、换前端、换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版本，都不牵动另外两段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4286250"/>
            <a:ext cx="10820400" cy="1714500"/>
          </a:xfrm>
          <a:prstGeom prst="roundRect">
            <a:avLst>
              <a:gd name="adj" fmla="val 5556"/>
            </a:avLst>
          </a:prstGeom>
          <a:solidFill>
            <a:srgbClr val="EFF4FB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563EB"/>
                </a:solidFill>
                <a:latin typeface="Consolas"/>
                <a:ea typeface="Consolas"/>
              </a:rPr>
              <a:t xml:space="preserve">LAYER 01 · </a:t>
            </a:r>
            <a:r>
              <a:rPr lang="zh-CN" sz="900" spc="75">
                <a:solidFill>
                  <a:srgbClr val="2563EB"/>
                </a:solidFill>
                <a:latin typeface="Consolas"/>
                <a:ea typeface="Consolas"/>
              </a:rPr>
              <a:t>接口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3333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模型只负责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选工具、读结果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，不直接碰数据库。工具名、参数、返回都是结构化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267200" y="4476750"/>
            <a:ext cx="9525" cy="13335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486275" y="4476750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563EB"/>
                </a:solidFill>
                <a:latin typeface="Consolas"/>
                <a:ea typeface="Consolas"/>
              </a:rPr>
              <a:t xml:space="preserve">LAYER 02 · </a:t>
            </a:r>
            <a:r>
              <a:rPr lang="zh-CN" sz="900" spc="75">
                <a:solidFill>
                  <a:srgbClr val="2563EB"/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86275" y="4686300"/>
            <a:ext cx="3143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只读工具默认可用；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个变更类工具要显式开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scope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，每次调用落审计。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648575" y="4476750"/>
            <a:ext cx="9525" cy="13335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67650" y="4476750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563EB"/>
                </a:solidFill>
                <a:latin typeface="Consolas"/>
                <a:ea typeface="Consolas"/>
              </a:rPr>
              <a:t xml:space="preserve">LAYER 03 · </a:t>
            </a:r>
            <a:r>
              <a:rPr lang="zh-CN" sz="900" spc="75">
                <a:solidFill>
                  <a:srgbClr val="2563EB"/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867650" y="4686300"/>
            <a:ext cx="3619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Manager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回答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能做什么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Indexer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回答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看到了什么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。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缺一半，结论就会偏。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621030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020425" y="62103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>03 / 06</a:t>
            </a:r>
            <a:endParaRPr/>
          </a:p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10820400" cy="2952750"/>
          </a:xfrm>
          <a:prstGeom prst="rect">
            <a:avLst/>
          </a:prstGeom>
          <a:ln/>
        </p:spPr>
      </p:pic>
      <p:sp>
        <p:nvSpPr>
          <p:cNvPr id="82" name=""/>
          <p:cNvSpPr/>
          <p:nvPr/>
        </p:nvSpPr>
        <p:spPr>
          <a:xfrm rot="0" flipH="0" flipV="0">
            <a:off x="685800" y="1333500"/>
            <a:ext cx="28575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76300" y="154305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Open WebUI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76300" y="1857375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对话界面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工具开关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 · RBAC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85800" y="2838450"/>
            <a:ext cx="28575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76300" y="30480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自建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3362325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vLLM · OpenAI 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兼容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支持调用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533900" y="1333500"/>
            <a:ext cx="3009900" cy="238125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724400" y="1504950"/>
            <a:ext cx="262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Wazuh MCP Server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724400" y="180022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FB4F0"/>
                </a:solidFill>
                <a:latin typeface="Consolas"/>
                <a:ea typeface="Consolas"/>
              </a:rPr>
              <a:t>55 tools · 8 toolsets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724400" y="20764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819650" y="21431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BF7"/>
                </a:solidFill>
                <a:latin typeface="Consolas"/>
                <a:ea typeface="Consolas"/>
              </a:rPr>
              <a:t>/mcp · Streamable HTTP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724400" y="24193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819650" y="24860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9DBF7"/>
                </a:solidFill>
                <a:latin typeface="Consolas"/>
                <a:ea typeface="Consolas"/>
              </a:rPr>
              <a:t>鉴权</a:t>
            </a:r>
            <a:r>
              <a:rPr lang="en-US" sz="900">
                <a:solidFill>
                  <a:srgbClr val="C9DBF7"/>
                </a:solidFill>
                <a:latin typeface="Consolas"/>
                <a:ea typeface="Consolas"/>
              </a:rPr>
              <a:t xml:space="preserve"> bearer → scope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724400" y="27622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19650" y="28289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9DBF7"/>
                </a:solidFill>
                <a:latin typeface="Consolas"/>
                <a:ea typeface="Consolas"/>
              </a:rPr>
              <a:t>审计</a:t>
            </a:r>
            <a:r>
              <a:rPr lang="en-US" sz="900">
                <a:solidFill>
                  <a:srgbClr val="C9DBF7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C9DBF7"/>
                </a:solidFill>
                <a:latin typeface="Consolas"/>
                <a:ea typeface="Consolas"/>
              </a:rPr>
              <a:t>限流</a:t>
            </a:r>
            <a:r>
              <a:rPr lang="en-US" sz="900">
                <a:solidFill>
                  <a:srgbClr val="C9DBF7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C9DBF7"/>
                </a:solidFill>
                <a:latin typeface="Consolas"/>
                <a:ea typeface="Consolas"/>
              </a:rPr>
              <a:t>入参校验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515350" y="1333500"/>
            <a:ext cx="29908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05850" y="1543050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Wazuh Manager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05850" y="185737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API 55000 · 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主机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规则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响应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515350" y="2838450"/>
            <a:ext cx="29908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05850" y="3048000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Wazuh Indexer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705850" y="336232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9200 · 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告警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漏洞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合规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57600" y="22098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tools/call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39050" y="22098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REST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33900" y="3695700"/>
            <a:ext cx="30099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Docker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部署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 · 3000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端口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仅内网可达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style={{ width: 1280, height: 720, background: '#FFFFFF', fontFamily: 'Microsoft YaHei', flexDirection: 'row' }}&gt;&#10;&#10;    {/* 左：深色标题栏 340 */}&#10;    &lt;Box style={{ width: 340, height: 720, background: '#0F172A', padding: '0 34', justifyContent: 'center' }}&gt;&#10;        &lt;Text style={{ fontSize: 12, color: '#8FB4F0', fontFamily: 'Consolas', letterSpacing: 2 }}&gt;CAPABILITY MAP&lt;/Text&gt;&#10;&#10;        &lt;Text style={{ fontSize: 96, fontWeight: 'bold', color: '#FFFFFF', lineHeight: 1.0, marginTop: 14 }}&gt;55&lt;/Text&gt;&#10;        &lt;Text style={{ fontSize: 20, color: '#C9DBF7', marginTop: 6 }}&gt;个工具 · 8 组能力&lt;/Text&gt;&#10;&#10;        &lt;Box style={{ width: 40, height: 2, background: '#06B6D4', marginTop: 26, marginBottom: 22 }} /&gt;&#10;&#10;        &lt;Box style={{ flexDirection: 'row', gap: 10, alignItems: 'baseline' }}&gt;&#10;            &lt;Text style={{ fontSize: 13, color: '#8FB4F0', fontFamily: 'Consolas' }}&gt;read 41&lt;/Text&gt;&#10;            &lt;Text style={{ fontSize: 13, color: '#64748B' }}&gt;/&lt;/Text&gt;&#10;            &lt;Text style={{ fontSize: 13, color: '#06B6D4', fontFamily: 'Consolas' }}&gt;write 14&lt;/Text&gt;&#10;        &lt;/Box&gt;&#10;&#10;        &lt;Text style={{ fontSize: 14, color: '#94A3B8', lineHeight: 1.75, marginTop: 18 }}&gt;&#10;            读多写少是这套设计的安全底座：日常研判全部落在只读区，能改状态的 14 个工具单独受控。&#10;        &lt;/Text&gt;&#10;    &lt;/Box&gt;&#10;&#10;    {/* 右：矩阵 */}&#10;    &lt;Box style={{ width: 940, height: 720, padding: '0 72 0 52' }}&gt;&#10;&#10;        &lt;Box style={{ height: 120, justifyContent: 'center' }}&gt;&#10;            &lt;Text style={{ fontSize: 32, fontWeight: 'bold', color: '#0F172A', lineHeight: 1.3 }}&gt;从&quot;查得到&quot;到&quot;处置得了&quot;&lt;/Text&gt;&#10;            &lt;Text style={{ fontSize: 17, color: '#64748B', lineHeight: 1.6, marginTop: 5 }}&gt;告警、主机、漏洞、合规、集群、响应、验证——一条判定链上该有的环节都在&lt;/Text&gt;&#10;        &lt;/Box&gt;&#10;&#10;        &lt;Box style={{ height: 502, justifyContent: 'space-between' }}&gt;&#10;&#10;            &lt;Box style={{ flexDirection: 'row', height: 118, borderBottom: '1px solid #E2E8F0' }}&gt;&#10;                &lt;Box style={{ flex: 1, padding: '9px 16px 9px 0' }}&gt;&#10;                    &lt;Box style={{ flexDirection: 'row', alignItems: 'center', gap: 8 }}&gt;&#10;                        &lt;Text style={{ fontSize: 18, fontWeight: 'bold', color: '#0F172A' }}&gt;告警&lt;/Text&gt;&#10;                        &lt;Text style={{ fontSize: 11, color: '#2563EB', fontFamily: 'Consolas' }}&gt;5&lt;/Text&gt;&#10;                    &lt;/Box&gt;&#10;                    &lt;Text style={{ fontSize: 13, color: '#64748B', lineHeight: 1.6, marginTop: 5 }}&gt;按时间窗查询、聚合、识别攻击模式，支持相对时间写法&lt;/Text&gt;&#10;                    &lt;Text style={{ fontSize: 11, color: '#2563EB', fontFamily: 'Consolas', marginTop: 5 }}&gt;get_wazuh_alerts · analyze_alert_patterns&lt;/Text&gt;&#10;                &lt;/Box&gt;&#10;                &lt;Box style={{ width: 1, background: '#E2E8F0', margin: '12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0F172A' }}&gt;主机与 Agent&lt;/Text&gt;&#10;                        &lt;Text style={{ fontSize: 11, color: '#2563EB', fontFamily: 'Consolas' }}&gt;6&lt;/Text&gt;&#10;                    &lt;/Box&gt;&#10;                    &lt;Text style={{ fontSize: 13, color: '#64748B', lineHeight: 1.6, marginTop: 5 }}&gt;在线状态、运行进程、开放端口、配置，补告警缺的那半张图&lt;/Text&gt;&#10;                    &lt;Text style={{ fontSize: 11, color: '#2563EB', fontFamily: 'Consolas', marginTop: 5 }}&gt;get_agent_ports · check_agent_health&lt;/Text&gt;&#10;                &lt;/Box&gt;&#10;            &lt;/Box&gt;&#10;&#10;            &lt;Box style={{ flexDirection: 'row', height: 118, borderBottom: '1px solid #E2E8F0' }}&gt;&#10;                &lt;Box style={{ flex: 1, padding: '9px 16px 9px 0' }}&gt;&#10;                    &lt;Box style={{ flexDirection: 'row', alignItems: 'center', gap: 8 }}&gt;&#10;                        &lt;Text style={{ fontSize: 18, fontWeight: 'bold', color: '#0F172A' }}&gt;漏洞&lt;/Text&gt;&#10;                        &lt;Text style={{ fontSize: 11, color: '#2563EB', fontFamily: 'Consolas' }}&gt;3&lt;/Text&gt;&#10;                    &lt;/Box&gt;&#10;                    &lt;Text style={{ fontSize: 13, color: '#64748B', lineHeight: 1.6, marginTop: 5 }}&gt;按 CVE、严重度、资产、软件包筛，直接给&quot;该先修哪些&quot;&lt;/Text&gt;&#10;                    &lt;Text style={{ fontSize: 11, color: '#2563EB', fontFamily: 'Consolas', marginTop: 5 }}&gt;get_wazuh_critical_vulnerabilities&lt;/Text&gt;&#10;                &lt;/Box&gt;&#10;                &lt;Box style={{ width: 1, background: '#E2E8F0', margin: '12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0F172A' }}&gt;安全分析&lt;/Text&gt;&#10;                        &lt;Text style={{ fontSize: 11, color: '#2563EB', fontFamily: 'Consolas' }}&gt;6&lt;/Text&gt;&#10;                    &lt;/Box&gt;&#10;                    &lt;Text style={{ fontSize: 13, color: '#64748B', lineHeight: 1.6, marginTop: 5 }}&gt;威胁研判、IOC 信誉、风险评分、可直接出周报&lt;/Text&gt;&#10;                    &lt;Text style={{ fontSize: 11, color: '#2563EB', fontFamily: 'Consolas', marginTop: 5 }}&gt;analyze_security_threat · generate_security_report&lt;/Text&gt;&#10;                &lt;/Box&gt;&#10;            &lt;/Box&gt;&#10;&#10;            &lt;Box style={{ flexDirection: 'row', height: 118, borderBottom: '1px solid #E2E8F0' }}&gt;&#10;                &lt;Box style={{ flex: 1, padding: '9px 16px 9px 0' }}&gt;&#10;                    &lt;Box style={{ flexDirection: 'row', alignItems: 'center', gap: 8 }}&gt;&#10;                        &lt;Text style={{ fontSize: 18, fontWeight: 'bold', color: '#0F172A' }}&gt;合规&lt;/Text&gt;&#10;                        &lt;Text style={{ fontSize: 11, color: '#2563EB', fontFamily: 'Consolas' }}&gt;6&lt;/Text&gt;&#10;                    &lt;/Box&gt;&#10;                    &lt;Text style={{ fontSize: 13, color: '#64748B', lineHeight: 1.6, marginTop: 5 }}&gt;PCI-DSS / GDPR / NIST / ISO 27001 的覆盖度与差距&lt;/Text&gt;&#10;                    &lt;Text style={{ fontSize: 11, color: '#2563EB', fontFamily: 'Consolas', marginTop: 5 }}&gt;run_compliance_check · get_iso27001_gap_analysis&lt;/Text&gt;&#10;                &lt;/Box&gt;&#10;                &lt;Box style={{ width: 1, background: '#E2E8F0', margin: '12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0F172A' }}&gt;系统与集群&lt;/Text&gt;&#10;                        &lt;Text style={{ fontSize: 11, color: '#2563EB', fontFamily: 'Consolas' }}&gt;10&lt;/Text&gt;&#10;                    &lt;/Box&gt;&#10;                    &lt;Text style={{ fontSize: 13, color: '#64748B', lineHeight: 1.6, marginTop: 5 }}&gt;集群健康、规则摘要、Manager 日志与采集统计，排障不靠登机器&lt;/Text&gt;&#10;                    &lt;Text style={{ fontSize: 11, color: '#2563EB', fontFamily: 'Consolas', marginTop: 5 }}&gt;get_wazuh_cluster_health · get_wazuh_statistics&lt;/Text&gt;&#10;                &lt;/Box&gt;&#10;            &lt;/Box&gt;&#10;&#10;            &lt;Box style={{ flexDirection: 'row', height: 118 }}&gt;&#10;                &lt;Box style={{ flex: 1, padding: '9px 16px 9px 0' }}&gt;&#10;                    &lt;Box style={{ flexDirection: 'row', alignItems: 'center', gap: 8 }}&gt;&#10;                        &lt;Text style={{ fontSize: 18, fontWeight: 'bold', color: '#0F172A' }}&gt;主动响应&lt;/Text&gt;&#10;                        &lt;Text style={{ fontSize: 11, color: '#06B6D4', fontFamily: 'Consolas' }}&gt;9 · 需授权&lt;/Text&gt;&#10;                    &lt;/Box&gt;&#10;                    &lt;Text style={{ fontSize: 13, color: '#64748B', lineHeight: 1.6, marginTop: 5 }}&gt;封 IP、隔离主机、杀进程、停用账号、隔离文件——全部要 wazuh:write&lt;/Text&gt;&#10;                    &lt;Text style={{ fontSize: 11, color: '#2563EB', fontFamily: 'Consolas', marginTop: 5 }}&gt;wazuh_block_ip · wazuh_isolate_host&lt;/Text&gt;&#10;                &lt;/Box&gt;&#10;                &lt;Box style={{ width: 1, background: '#E2E8F0', margin: '12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0F172A' }}&gt;验证与回滚&lt;/Text&gt;&#10;                        &lt;Text style={{ fontSize: 11, color: '#06B6D4', fontFamily: 'Consolas' }}&gt;10 · 需授权&lt;/Text&gt;&#10;                    &lt;/Box&gt;&#10;                    &lt;Text style={{ fontSize: 13, color: '#64748B', lineHeight: 1.6, marginTop: 5 }}&gt;确认动作真的生效，并且能一键撤回来——误封是可逆的&lt;/Text&gt;&#10;                    &lt;Text style={{ fontSize: 11, color: '#2563EB', fontFamily: 'Consolas', marginTop: 5 }}&gt;wazuh_check_blocked_ip · wazuh_unisolate_host&lt;/Text&gt;&#10;                &lt;/Box&gt;&#10;            &lt;/Box&gt;&#10;&#10;        &lt;/Box&gt;&#10;&#10;        &lt;Box style={{ height: 60, flexDirection: 'row', alignItems: 'center', justifyContent: 'space-between', marginTop: 'auto' }}&gt;&#10;            &lt;Text style={{ fontSize: 13, color: '#94A3B8' }}&gt;Wazuh MCP · 内部技术评审&lt;/Text&gt;&#10;            &lt;Text style={{ fontSize: 13, color: '#94A3B8', fontFamily: 'Consolas' }}&gt;04 / 06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23850" y="1771650"/>
            <a:ext cx="2590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8FB4F0"/>
                </a:solidFill>
                <a:latin typeface="Consolas"/>
                <a:ea typeface="Consolas"/>
              </a:rPr>
              <a:t>CAPABILITY MAP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23850" y="2047875"/>
            <a:ext cx="2590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55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23850" y="3209925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BF7"/>
                </a:solidFill>
                <a:latin typeface="Microsoft YaHei"/>
                <a:ea typeface="Microsoft YaHei"/>
              </a:rPr>
              <a:t>个工具</a:t>
            </a:r>
            <a:r>
              <a:rPr lang="en-US" sz="1500">
                <a:solidFill>
                  <a:srgbClr val="C9DBF7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500">
                <a:solidFill>
                  <a:srgbClr val="C9DBF7"/>
                </a:solidFill>
                <a:latin typeface="Microsoft YaHei"/>
                <a:ea typeface="Microsoft YaHei"/>
              </a:rPr>
              <a:t>组能力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23850" y="3686175"/>
            <a:ext cx="38100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23850" y="39147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F0"/>
                </a:solidFill>
                <a:latin typeface="Consolas"/>
                <a:ea typeface="Consolas"/>
              </a:rPr>
              <a:t>read 41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04875" y="3914775"/>
            <a:ext cx="5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57275" y="3914775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Consolas"/>
                <a:ea typeface="Consolas"/>
              </a:rPr>
              <a:t>write 14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23850" y="4238625"/>
            <a:ext cx="25908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读多写少是这套设计的安全底座：日常研判全部落在只读区，能改状态的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个工具单独受控。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733800" y="152400"/>
            <a:ext cx="77724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从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查得到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到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处置得了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733800" y="676275"/>
            <a:ext cx="7772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告警、主机、漏洞、合规、集群、响应、验证——一条判定链上该有的环节都在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733800" y="11430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733800" y="12287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告警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52900" y="1266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733800" y="14859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按时间窗查询、聚合、识别攻击模式，支持相对时间写法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733800" y="17716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get_wazuh_alerts · analyze_alert_patterns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620000" y="1257300"/>
            <a:ext cx="9525" cy="8858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20025" y="1228725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主机与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991600" y="1266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20025" y="14859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在线状态、运行进程、开放端口、配置，补告警缺的那半张图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20025" y="17716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get_agent_ports · check_agent_health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733800" y="23622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733800" y="2447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漏洞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152900" y="2486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733800" y="27051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CVE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、严重度、资产、软件包筛，直接给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该先修哪些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733800" y="29908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get_wazuh_critical_vulnerabilities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620000" y="2476500"/>
            <a:ext cx="9525" cy="8858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820025" y="2447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安全分析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582025" y="2486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820025" y="27051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威胁研判、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IOC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信誉、风险评分、可直接出周报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20025" y="29908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analyze_security_threat · generate_security_report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733800" y="35814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733800" y="36671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52900" y="3705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733800" y="39243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PCI-DSS / GDPR / NIST / ISO 27001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的覆盖度与差距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733800" y="42100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run_compliance_check · get_iso27001_gap_analysis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7620000" y="3695700"/>
            <a:ext cx="9525" cy="8858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20025" y="36671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系统与集群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753475" y="370522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820025" y="39243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集群健康、规则摘要、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Manager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日志与采集统计，排障不靠登机器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20025" y="42100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get_wazuh_cluster_health · get_wazuh_statistics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733800" y="4886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主动响应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495800" y="492442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6B6D4"/>
                </a:solidFill>
                <a:latin typeface="Consolas"/>
                <a:ea typeface="Consolas"/>
              </a:rPr>
              <a:t xml:space="preserve">9 · </a:t>
            </a:r>
            <a:r>
              <a:rPr lang="zh-CN" sz="825">
                <a:solidFill>
                  <a:srgbClr val="06B6D4"/>
                </a:solidFill>
                <a:latin typeface="Consolas"/>
                <a:ea typeface="Consolas"/>
              </a:rPr>
              <a:t>需授权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733800" y="5143500"/>
            <a:ext cx="37338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IP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、隔离主机、杀进程、停用账号、隔离文件——全部要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wazuh:write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733800" y="5667375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wazuh_block_ip · wazuh_isolate_host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620000" y="4914900"/>
            <a:ext cx="9525" cy="8953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820025" y="48863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验证与回滚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53475" y="4924425"/>
            <a:ext cx="781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6B6D4"/>
                </a:solidFill>
                <a:latin typeface="Consolas"/>
                <a:ea typeface="Consolas"/>
              </a:rPr>
              <a:t xml:space="preserve">10 · </a:t>
            </a:r>
            <a:r>
              <a:rPr lang="zh-CN" sz="825">
                <a:solidFill>
                  <a:srgbClr val="06B6D4"/>
                </a:solidFill>
                <a:latin typeface="Consolas"/>
                <a:ea typeface="Consolas"/>
              </a:rPr>
              <a:t>需授权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820025" y="51435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确认动作真的生效，并且能一键撤回来——误封是可逆的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20025" y="54292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onsolas"/>
                <a:ea typeface="Consolas"/>
              </a:rPr>
              <a:t>wazuh_check_blocked_ip · wazuh_unisolate_host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733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>04 / 06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0" name="" descr="&lt;Slide style={{ width: 1280, height: 720, background: '#FFFFFF', fontFamily: 'Microsoft YaHei', padding: '0 72' }}&gt;&#10;&#10;    {/* A 区 */}&#10;    &lt;Box style={{ height: 120, justifyContent: 'center' }}&gt;&#10;        &lt;Text style={{ fontSize: 36, fontWeight: 'bold', color: '#0F172A', lineHeight: 1.3 }}&gt;一次真实的对话闭环&lt;/Text&gt;&#10;        &lt;Text style={{ fontSize: 19, color: '#64748B', lineHeight: 1.6, marginTop: 8 }}&gt;同样一个问题，过去要写三条查询、切两个界面；现在是一段对话，而且每一步都留痕&lt;/Text&gt;&#10;    &lt;/Box&gt;&#10;&#10;    {/* B 区 */}&#10;    &lt;Box style={{ width: 1136, height: 540, position: 'relative' }}&gt;&#10;&#10;        &lt;svg width={1136} height={540} viewBox='0 0 1136 540' style={{ position: 'absolute', top: 0, left: 0 }}&gt;&#10;            &lt;line x1='800' y1='181' x2='836' y2='181' stroke='#2563EB' strokeWidth='1.4' /&gt;&#10;            &lt;line x1='800' y1='287' x2='836' y2='287' stroke='#2563EB' strokeWidth='1.4' /&gt;&#10;            &lt;line x1='800' y1='410' x2='836' y2='410' stroke='#2563EB' strokeWidth='1.4' /&gt;&#10;        &lt;/svg&gt;&#10;&#10;        {/* 对话卡 */}&#10;        &lt;Box style={{ width: 800, height: 480, background: '#FFFFFF', border: '1px solid #E2E8F0', borderRadius: 12, position: 'absolute', top: 0, left: 0 }}&gt;&#10;&#10;            &lt;Box style={{ height: 128, background: '#EFF4FB', padding: '18px 26px' }}&gt;&#10;                &lt;Text style={{ fontSize: 12, color: '#64748B', fontFamily: 'Consolas' }}&gt;值班同事 · 09:14&lt;/Text&gt;&#10;                &lt;Text style={{ fontSize: 20, fontWeight: 'bold', color: '#0F172A', lineHeight: 1.5, marginTop: 8 }}&gt;&#10;                    过去 24 小时，有没有主机出现横向移动的迹象？帮我看看该先处理哪台。&#10;                &lt;/Text&gt;&#10;            &lt;/Box&gt;&#10;&#10;            &lt;Box style={{ height: 106, padding: '16px 26px', borderBottom: '1px solid #F1F5F9' }}&gt;&#10;                &lt;Text style={{ fontSize: 12, color: '#2563EB', fontFamily: 'Consolas' }}&gt;call › get_wazuh_alerts_aggregated(range=&quot;now-24h&quot;, level=10)&lt;/Text&gt;&#10;                &lt;Text style={{ fontSize: 14, color: '#475569', lineHeight: 1.6, marginTop: 7 }}&gt;&#10;                    命中 1,842 条告警；按主机聚合后收敛到 3 台，其余为扫描噪声。&#10;                &lt;/Text&gt;&#10;            &lt;/Box&gt;&#10;&#10;            &lt;Box style={{ height: 106, padding: '16px 26px', borderBottom: '1px solid #F1F5F9' }}&gt;&#10;                &lt;Text style={{ fontSize: 12, color: '#2563EB', fontFamily: 'Consolas' }}&gt;call › analyze_alert_patterns(pattern=&quot;lateral_movement&quot;)&lt;/Text&gt;&#10;                &lt;Text style={{ fontSize: 14, color: '#475569', lineHeight: 1.6, marginTop: 7 }}&gt;&#10;                    3 台主机出现 445 端口探测与凭据爆破的连续行为，集中在 02:10–02:40。&#10;                &lt;/Text&gt;&#10;            &lt;/Box&gt;&#10;&#10;            &lt;Box style={{ height: 140, padding: '16px 26px', background: '#F8FAFC' }}&gt;&#10;                &lt;Text style={{ fontSize: 12, color: '#06B6D4', fontFamily: 'Consolas' }}&gt;结论 · 附数据出处&lt;/Text&gt;&#10;                &lt;Text style={{ fontSize: 17, color: '#0F172A', lineHeight: 1.65, marginTop: 7 }}&gt;&#10;                    先处理 &lt;span style={{ fontWeight: 'bold' }}&gt;A 主机&lt;/span&gt;：它已经出现成功登录。建议隔离，再核对 02:30 前后的进程与外联端口。&#10;                &lt;/Text&gt;&#10;                &lt;Text style={{ fontSize: 13, color: '#94A3B8', marginTop: 6 }}&gt;依据：12 条 Level 12+ 告警 + 47 次 445 端口连接&lt;/Text&gt;&#10;            &lt;/Box&gt;&#10;&#10;        &lt;/Box&gt;&#10;&#10;        {/* 三条旁注 */}&#10;        &lt;Box style={{ position: 'absolute', top: 141, left: 836, width: 300, flexDirection: 'row', gap: 12 }}&gt;&#10;            &lt;Box style={{ width: 24, height: 24, borderRadius: 12, background: '#2563EB', justifyContent: 'center', alignItems: 'center' }}&gt;&#10;                &lt;Text style={{ fontSize: 12, color: '#FFFFFF', fontFamily: 'Consolas' }}&gt;1&lt;/Text&gt;&#10;            &lt;/Box&gt;&#10;            &lt;Box style={{ width: 264 }}&gt;&#10;                &lt;Text style={{ fontSize: 15, fontWeight: 'bold', color: '#0F172A', lineHeight: 1.4 }}&gt;查询可复现&lt;/Text&gt;&#10;                &lt;Text style={{ fontSize: 13, color: '#64748B', lineHeight: 1.6, marginTop: 4 }}&gt;时间窗、阈值、过滤条件都是参数，不是模型编的&lt;/Text&gt;&#10;            &lt;/Box&gt;&#10;        &lt;/Box&gt;&#10;&#10;        &lt;Box style={{ position: 'absolute', top: 247, left: 836, width: 300, flexDirection: 'row', gap: 12 }}&gt;&#10;            &lt;Box style={{ width: 24, height: 24, borderRadius: 12, background: '#2563EB', justifyContent: 'center', alignItems: 'center' }}&gt;&#10;                &lt;Text style={{ fontSize: 12, color: '#FFFFFF', fontFamily: 'Consolas' }}&gt;2&lt;/Text&gt;&#10;            &lt;/Box&gt;&#10;            &lt;Box style={{ width: 264 }}&gt;&#10;                &lt;Text style={{ fontSize: 15, fontWeight: 'bold', color: '#0F172A', lineHeight: 1.4 }}&gt;结论有出处&lt;/Text&gt;&#10;                &lt;Text style={{ fontSize: 13, color: '#64748B', lineHeight: 1.6, marginTop: 4 }}&gt;每条判断都对得回 Indexer 里的原始文档&lt;/Text&gt;&#10;            &lt;/Box&gt;&#10;        &lt;/Box&gt;&#10;&#10;        &lt;Box style={{ position: 'absolute', top: 370, left: 836, width: 300, flexDirection: 'row', gap: 12 }}&gt;&#10;            &lt;Box style={{ width: 24, height: 24, borderRadius: 12, background: '#0F172A', justifyContent: 'center', alignItems: 'center' }}&gt;&#10;                &lt;Text style={{ fontSize: 12, color: '#FFFFFF', fontFamily: 'Consolas' }}&gt;3&lt;/Text&gt;&#10;            &lt;/Box&gt;&#10;            &lt;Box style={{ width: 264 }}&gt;&#10;                &lt;Text style={{ fontSize: 15, fontWeight: 'bold', color: '#0F172A', lineHeight: 1.4 }}&gt;处置另走授权&lt;/Text&gt;&#10;                &lt;Text style={{ fontSize: 13, color: '#64748B', lineHeight: 1.6, marginTop: 4 }}&gt;&quot;建议隔离&quot;与&quot;执行隔离&quot;是两步，中间有人和审计&lt;/Text&gt;&#10;            &lt;/Box&gt;&#10;        &lt;/Box&gt;&#10;&#10;        {/* 底部一句判断 */}&#10;        &lt;Box style={{ position: 'absolute', top: 488, left: 0, width: 800, borderTop: '2px solid #0F172A', paddingTop: 14 }}&gt;&#10;            &lt;Text style={{ fontSize: 17, color: '#0F172A', lineHeight: 1.6 }}&gt;&#10;                从&quot;我要查什么&quot;到&quot;我知道该做什么&quot;，中间不再需要一个人来做翻译。&#10;            &lt;/Text&gt;&#10;        &lt;/Box&gt;&#10;&#10;    &lt;/Box&gt;&#10;&#10;    {/* C 区 */}&#10;    &lt;Box style={{ height: 60, flexDirection: 'row', alignItems: 'center', justifyContent: 'space-between' }}&gt;&#10;        &lt;Text style={{ fontSize: 13, color: '#94A3B8' }}&gt;Wazuh MCP · 内部技术评审&lt;/Text&gt;&#10;        &lt;Text style={{ fontSize: 13, color: '#94A3B8', fontFamily: 'Consolas' }}&gt;05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一次真实的对话闭环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同样一个问题，过去要写三条查询、切两个界面；现在是一段对话，而且每一步都留痕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>05 / 06</a:t>
            </a:r>
            <a:endParaRPr/>
          </a:p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10820400" cy="5143500"/>
          </a:xfrm>
          <a:prstGeom prst="rect">
            <a:avLst/>
          </a:prstGeom>
          <a:ln/>
        </p:spPr>
      </p:pic>
      <p:sp>
        <p:nvSpPr>
          <p:cNvPr id="167" name=""/>
          <p:cNvSpPr/>
          <p:nvPr/>
        </p:nvSpPr>
        <p:spPr>
          <a:xfrm rot="0" flipH="0" flipV="0">
            <a:off x="685800" y="1143000"/>
            <a:ext cx="76200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685800" y="1143000"/>
            <a:ext cx="7620000" cy="1219200"/>
          </a:xfrm>
          <a:prstGeom prst="rect">
            <a:avLst/>
          </a:prstGeom>
          <a:solidFill>
            <a:srgbClr val="EFF4F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33450" y="131445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Consolas"/>
                <a:ea typeface="Consolas"/>
              </a:rPr>
              <a:t>值班同事</a:t>
            </a:r>
            <a:r>
              <a:rPr lang="en-US" sz="900">
                <a:solidFill>
                  <a:srgbClr val="64748B"/>
                </a:solidFill>
                <a:latin typeface="Consolas"/>
                <a:ea typeface="Consolas"/>
              </a:rPr>
              <a:t xml:space="preserve"> · 09:14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33450" y="1533525"/>
            <a:ext cx="71247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过去</a:t>
            </a: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小时，有没有主机出现横向移动的迹象？帮我看看该先处理哪台。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85800" y="2362200"/>
            <a:ext cx="7620000" cy="1009650"/>
          </a:xfrm>
          <a:custGeom>
            <a:pathLst>
              <a:path w="800" h="106">
                <a:moveTo>
                  <a:pt x="0" y="105"/>
                </a:moveTo>
                <a:lnTo>
                  <a:pt x="800" y="105"/>
                </a:lnTo>
                <a:lnTo>
                  <a:pt x="800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33450" y="251460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call › get_wazuh_alerts_aggregated(range="now-24h", level=10)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33450" y="2724150"/>
            <a:ext cx="7124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命中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1,842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条告警；按主机聚合后收敛到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台，其余为扫描噪声。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85800" y="3371850"/>
            <a:ext cx="7620000" cy="1009650"/>
          </a:xfrm>
          <a:custGeom>
            <a:pathLst>
              <a:path w="800" h="106">
                <a:moveTo>
                  <a:pt x="0" y="105"/>
                </a:moveTo>
                <a:lnTo>
                  <a:pt x="800" y="105"/>
                </a:lnTo>
                <a:lnTo>
                  <a:pt x="800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33450" y="352425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call › analyze_alert_patterns(pattern="lateral_movement")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33450" y="3733800"/>
            <a:ext cx="7124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台主机出现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445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端口探测与凭据爆破的连续行为，集中在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02:10–02:40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85800" y="4381500"/>
            <a:ext cx="7620000" cy="133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33450" y="453390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Consolas"/>
                <a:ea typeface="Consolas"/>
              </a:rPr>
              <a:t>结论</a:t>
            </a:r>
            <a:r>
              <a:rPr lang="en-US" sz="900">
                <a:solidFill>
                  <a:srgbClr val="06B6D4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06B6D4"/>
                </a:solidFill>
                <a:latin typeface="Consolas"/>
                <a:ea typeface="Consolas"/>
              </a:rPr>
              <a:t>附数据出处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33450" y="4743450"/>
            <a:ext cx="71247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先处理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主机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：它已经出现成功登录。建议隔离，再核对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 02:30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前后的进程与外联端口。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33450" y="5124450"/>
            <a:ext cx="712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依据：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条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Level 12+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告警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+ 47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次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445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端口连接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8648700" y="2486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734425" y="2533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991600" y="2486025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查询可复现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991600" y="2771775"/>
            <a:ext cx="2514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时间窗、阈值、过滤条件都是参数，不是模型编的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648700" y="3495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734425" y="354330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991600" y="3495675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结论有出处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991600" y="3781425"/>
            <a:ext cx="25146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每条判断都对得回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Indexer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里的原始文档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648700" y="4667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734425" y="47148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991600" y="466725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处置另走授权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991600" y="4953000"/>
            <a:ext cx="2514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建议隔离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执行隔离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是两步，中间有人和审计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85800" y="5791200"/>
            <a:ext cx="7620000" cy="485775"/>
          </a:xfrm>
          <a:custGeom>
            <a:pathLst>
              <a:path w="800" h="51">
                <a:moveTo>
                  <a:pt x="0" y="0"/>
                </a:moveTo>
                <a:lnTo>
                  <a:pt x="800" y="0"/>
                </a:lnTo>
                <a:lnTo>
                  <a:pt x="80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5943600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从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我要查什么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我知道该做什么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，中间不再需要一个人来做翻译。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5" name="" descr="&lt;Slide style={{ width: 1280, height: 720, background: '#FFFFFF', fontFamily: 'Microsoft YaHei', padding: '0 72' }}&gt;&#10;&#10;    {/* A 区 */}&#10;    &lt;Box style={{ height: 120, justifyContent: 'center' }}&gt;&#10;        &lt;Text style={{ fontSize: 36, fontWeight: 'bold', color: '#0F172A', lineHeight: 1.3 }}&gt;落地四步与三条边界&lt;/Text&gt;&#10;        &lt;Text style={{ fontSize: 19, color: '#64748B', lineHeight: 1.6, marginTop: 8 }}&gt;不改现有 Wazuh 集群、不把数据送出去：加一个容器、注册一个地址，就能跑通&lt;/Text&gt;&#10;    &lt;/Box&gt;&#10;&#10;    {/* 上：四步步骤带 */}&#10;    &lt;Box style={{ height: 210, flexDirection: 'row' }}&gt;&#10;&#10;        &lt;Box style={{ flex: 1, borderTop: '2px solid #2563EB', padding: '20px 22px 0 0' }}&gt;&#10;            &lt;Text style={{ fontSize: 12, color: '#2563EB', fontFamily: 'Consolas' }}&gt;STEP 01&lt;/Text&gt;&#10;            &lt;Text style={{ fontSize: 18, fontWeight: 'bold', color: '#0F172A', marginTop: 8 }}&gt;接配置&lt;/Text&gt;&#10;            &lt;Text style={{ fontSize: 13, color: '#64748B', lineHeight: 1.7, marginTop: 8 }}&gt;&#10;                .env 里填 Manager 与 Indexer 的地址和账号，生成 AUTH_SECRET_KEY 与 MCP_API_KEY。证书建议换签，不要长期开跳过校验。&#10;            &lt;/Text&gt;&#10;        &lt;/Box&gt;&#10;&#10;        &lt;Box style={{ flex: 1, borderTop: '2px solid #2563EB', padding: '20px 22px 0 26px' }}&gt;&#10;            &lt;Text style={{ fontSize: 12, color: '#2563EB', fontFamily: 'Consolas' }}&gt;STEP 02&lt;/Text&gt;&#10;            &lt;Text style={{ fontSize: 18, fontWeight: 'bold', color: '#0F172A', marginTop: 8 }}&gt;起服务&lt;/Text&gt;&#10;            &lt;Text style={{ fontSize: 13, color: '#64748B', lineHeight: 1.7, marginTop: 8 }}&gt;&#10;                docker compose up -d。用 /health 看进程、用 /ready 看两套 Wazuh 接口是否真的连得通——这一步能挡掉八成配置问题。&#10;            &lt;/Text&gt;&#10;        &lt;/Box&gt;&#10;&#10;        &lt;Box style={{ flex: 1, borderTop: '2px solid #2563EB', padding: '20px 22px 0 26px' }}&gt;&#10;            &lt;Text style={{ fontSize: 12, color: '#2563EB', fontFamily: 'Consolas' }}&gt;STEP 03&lt;/Text&gt;&#10;            &lt;Text style={{ fontSize: 18, fontWeight: 'bold', color: '#0F172A', marginTop: 8 }}&gt;接前端&lt;/Text&gt;&#10;            &lt;Text style={{ fontSize: 13, color: '#64748B', lineHeight: 1.7, marginTop: 8 }}&gt;&#10;                在 Open WebUI 管理设置里注册 MCP 地址（/mcp）与 token，再按角色决定谁能用哪些工具。&#10;            &lt;/Text&gt;&#10;        &lt;/Box&gt;&#10;&#10;        &lt;Box style={{ flex: 1, borderTop: '2px solid #06B6D4', padding: '20px 0 0 26px' }}&gt;&#10;            &lt;Text style={{ fontSize: 12, color: '#06B6D4', fontFamily: 'Consolas' }}&gt;STEP 04&lt;/Text&gt;&#10;            &lt;Text style={{ fontSize: 18, fontWeight: 'bold', color: '#0F172A', marginTop: 8 }}&gt;灰度&lt;/Text&gt;&#10;            &lt;Text style={{ fontSize: 13, color: '#64748B', lineHeight: 1.7, marginTop: 8 }}&gt;&#10;                先只挂告警与主机两组工具，观察一周判得准不准；稳定后再放开漏洞、合规，最后才谈响应。&#10;            &lt;/Text&gt;&#10;        &lt;/Box&gt;&#10;&#10;    &lt;/Box&gt;&#10;&#10;    {/* 下：双栏 640 : 472 */}&#10;    &lt;Box style={{ flexDirection: 'row', gap: 24, height: 270, marginTop: 24 }}&gt;&#10;&#10;        &lt;Box style={{ width: 640, justifyContent: 'space-between' }}&gt;&#10;            &lt;Text style={{ fontSize: 12, color: '#94A3B8', fontFamily: 'Consolas', letterSpacing: 1.5 }}&gt;三条边界&lt;/Text&gt;&#10;&#10;            &lt;Box style={{ flexDirection: 'row', gap: 14, marginTop: 10 }}&gt;&#10;                &lt;Box style={{ width: 3, background: '#2563EB', borderRadius: 2 }} /&gt;&#10;                &lt;Box style={{ width: 596 }}&gt;&#10;                    &lt;Text style={{ fontSize: 16, fontWeight: 'bold', color: '#0F172A' }}&gt;默认只读，写入必须显式授权&lt;/Text&gt;&#10;                    &lt;Text style={{ fontSize: 13, color: '#64748B', lineHeight: 1.65, marginTop: 4 }}&gt;14 个变更类工具要单独开 wazuh:write，且不会被隐式授予；每次调用都进审计日志。&lt;/Text&gt;&#10;                &lt;/Box&gt;&#10;            &lt;/Box&gt;&#10;&#10;            &lt;Box style={{ flexDirection: 'row', gap: 14 }}&gt;&#10;                &lt;Box style={{ width: 3, background: '#2563EB', borderRadius: 2 }} /&gt;&#10;                &lt;Box style={{ width: 596 }}&gt;&#10;                    &lt;Text style={{ fontSize: 16, fontWeight: 'bold', color: '#0F172A' }}&gt;数据不出内网&lt;/Text&gt;&#10;                    &lt;Text style={{ fontSize: 13, color: '#64748B', lineHeight: 1.65, marginTop: 4 }}&gt;全链路唯一的外呼工具是 search_external_context，生产环境直接关掉，模型也跑在自建推理上。&lt;/Text&gt;&#10;                &lt;/Box&gt;&#10;            &lt;/Box&gt;&#10;&#10;            &lt;Box style={{ flexDirection: 'row', gap: 14 }}&gt;&#10;                &lt;Box style={{ width: 3, background: '#06B6D4', borderRadius: 2 }} /&gt;&#10;                &lt;Box style={{ width: 596 }}&gt;&#10;                    &lt;Text style={{ fontSize: 16, fontWeight: 'bold', color: '#0F172A' }}&gt;模型能力是前提，不是配角&lt;/Text&gt;&#10;                    &lt;Text style={{ fontSize: 13, color: '#64748B', lineHeight: 1.65, marginTop: 4 }}&gt;必须支持 function calling；小参数模型先只挂 10 个以内的工具，否则会在工具选择上乱猜。&lt;/Text&gt;&#10;                &lt;/Box&gt;&#10;            &lt;/Box&gt;&#10;        &lt;/Box&gt;&#10;&#10;        &lt;Box style={{ width: 472, background: '#0F172A', borderRadius: 10, padding: '26px 28px', justifyContent: 'space-between' }}&gt;&#10;            &lt;Text style={{ fontSize: 12, color: '#8FB4F0', fontFamily: 'Consolas', letterSpacing: 1.5 }}&gt;评审建议&lt;/Text&gt;&#10;            &lt;Text style={{ fontSize: 26, fontWeight: 'bold', color: '#FFFFFF', lineHeight: 1.5, marginTop: 12 }}&gt;&#10;                先做&quot;读&quot;，把&quot;写&quot;留到审计与回滚就位之后。&#10;            &lt;/Text&gt;&#10;            &lt;Box style={{ borderTop: '1px solid #24344D', paddingTop: 14 }}&gt;&#10;                &lt;Text style={{ fontSize: 13, color: '#94A3B8', lineHeight: 1.7 }}&gt;&#10;                    一期目标：值班能自己问出结论，告警处置从&quot;翻界面&quot;变成&quot;问一句&quot;。二期再接主动响应，并把回滚纳入演练。&#10;                &lt;/Text&gt;&#10;            &lt;/Box&gt;&#10;        &lt;/Box&gt;&#10;&#10;    &lt;/Box&gt;&#10;&#10;    {/* C 区 */}&#10;    &lt;Box style={{ height: 60, flexDirection: 'row', alignItems: 'center', justifyContent: 'space-between' }}&gt;&#10;        &lt;Text style={{ fontSize: 13, color: '#94A3B8' }}&gt;Wazuh MCP · 内部技术评审&lt;/Text&gt;&#10;        &lt;Text style={{ fontSize: 13, color: '#94A3B8', fontFamily: 'Consolas' }}&gt;06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落地四步与三条边界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不改现有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集群、不把数据送出去：加一个容器、注册一个地址，就能跑通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858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STEP 01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157162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接配置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1857375"/>
            <a:ext cx="24955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.env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里填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Manager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Indexer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的地址和账号，生成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AUTH_SECRET_KEY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MCP_API_KEY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。证书建议换签，不要长期开跳过校验。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3909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638550" y="13525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STEP 02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638550" y="1571625"/>
            <a:ext cx="224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起服务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638550" y="1857375"/>
            <a:ext cx="22479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docker compose up -d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。用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/health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看进程、用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/ready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看两套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接口是否真的连得通——这一步能挡掉八成配置问题。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343650" y="13525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Consolas"/>
                <a:ea typeface="Consolas"/>
              </a:rPr>
              <a:t>STEP 03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343650" y="1571625"/>
            <a:ext cx="224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接前端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343650" y="1857375"/>
            <a:ext cx="22479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Open WebUI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管理设置里注册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地址（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/mcp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）与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，再按角色决定谁能用哪些工具。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8011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048750" y="13525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6B6D4"/>
                </a:solidFill>
                <a:latin typeface="Consolas"/>
                <a:ea typeface="Consolas"/>
              </a:rPr>
              <a:t>STEP 04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048750" y="15716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灰度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048750" y="1857375"/>
            <a:ext cx="2457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先只挂告警与主机两组工具，观察一周判得准不准；稳定后再放开漏洞、合规，最后才谈响应。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3371850"/>
            <a:ext cx="609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94A3B8"/>
                </a:solidFill>
                <a:latin typeface="Consolas"/>
                <a:ea typeface="Consolas"/>
              </a:rPr>
              <a:t>三条边界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85800" y="3914775"/>
            <a:ext cx="28575" cy="47625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47725" y="3914775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默认只读，写入必须显式授权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47725" y="4143375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个变更类工具要单独开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wazuh:write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，且不会被隐式授予；每次调用都进审计日志。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4686300"/>
            <a:ext cx="28575" cy="47625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47725" y="46863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数据不出内网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47725" y="491490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全链路唯一的外呼工具是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search_external_context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，生产环境直接关掉，模型也跑在自建推理上。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85800" y="5467350"/>
            <a:ext cx="28575" cy="476250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47725" y="546735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模型能力是前提，不是配角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47725" y="56959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必须支持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function calling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；小参数模型先只挂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个以内的工具，否则会在工具选择上乱猜。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010400" y="3371850"/>
            <a:ext cx="4495800" cy="2571750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277100" y="3619500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FB4F0"/>
                </a:solidFill>
                <a:latin typeface="Consolas"/>
                <a:ea typeface="Consolas"/>
              </a:rPr>
              <a:t>评审建议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277100" y="4010025"/>
            <a:ext cx="39624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先做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读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，把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写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留到审计与回滚就位之后。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277100" y="5038725"/>
            <a:ext cx="3962400" cy="666750"/>
          </a:xfrm>
          <a:custGeom>
            <a:pathLst>
              <a:path w="416" h="70">
                <a:moveTo>
                  <a:pt x="0" y="0"/>
                </a:moveTo>
                <a:lnTo>
                  <a:pt x="416" y="0"/>
                </a:lnTo>
                <a:lnTo>
                  <a:pt x="41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44D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277100" y="5181600"/>
            <a:ext cx="3962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一期目标：值班能自己问出结论，告警处置从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翻界面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变成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问一句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。二期再接主动响应，并把回滚纳入演练。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85800" y="61531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020425" y="61531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>06 / 06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2026-10-23T17:00:35Z</dcterms:created>
  <dcterms:modified xsi:type="dcterms:W3CDTF">2026-10-23T17:00:35Z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{"AIGC":{"Label":"1","ContentProducer":"00119111010856365494821B355","ProduceID":"01a167f5df1177129099496a7da81f2a","ReservedCode1":"","ContentPropagator":"00119111010856365494821B355","PropagateID":"01a167f5df1177129099496a7da81f2a","ReservedCode2":""}}</vt:lpwstr>
  </property>
</Properties>
</file>